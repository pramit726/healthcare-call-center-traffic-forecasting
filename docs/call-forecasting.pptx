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60" r:id="rId3"/>
    <p:sldId id="262" r:id="rId4"/>
    <p:sldId id="306" r:id="rId5"/>
    <p:sldId id="305" r:id="rId6"/>
    <p:sldId id="289" r:id="rId7"/>
    <p:sldId id="300" r:id="rId8"/>
    <p:sldId id="301" r:id="rId9"/>
    <p:sldId id="303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Card" id="{CFAAFDF4-107D-4ADE-A541-1ED558E65B3F}">
          <p14:sldIdLst>
            <p14:sldId id="260"/>
            <p14:sldId id="262"/>
          </p14:sldIdLst>
        </p14:section>
        <p14:section name="Business Objective" id="{A6F03C1C-905D-4F7E-86DF-E08795955478}">
          <p14:sldIdLst>
            <p14:sldId id="306"/>
            <p14:sldId id="305"/>
          </p14:sldIdLst>
        </p14:section>
        <p14:section name="Data Overview" id="{AC52052F-797A-4685-AB72-108645DC9216}">
          <p14:sldIdLst>
            <p14:sldId id="289"/>
          </p14:sldIdLst>
        </p14:section>
        <p14:section name="Data Acquisition &amp; Processing" id="{3CE2F3EE-971B-457F-9B1C-103296EAFFBA}">
          <p14:sldIdLst>
            <p14:sldId id="300"/>
          </p14:sldIdLst>
        </p14:section>
        <p14:section name="Feature Engineering &amp; Selection" id="{A2D71CD8-9679-40BE-B0F9-2861B8FD6D77}">
          <p14:sldIdLst>
            <p14:sldId id="301"/>
          </p14:sldIdLst>
        </p14:section>
        <p14:section name="Model Selection &amp; Performance" id="{7E09A5CA-D48C-48A1-8BE1-9E00C7DEE893}">
          <p14:sldIdLst>
            <p14:sldId id="303"/>
          </p14:sldIdLst>
        </p14:section>
        <p14:section name="Take Aways &amp; About Me" id="{992E5CD6-8F1B-436D-976F-0F482D0B6567}">
          <p14:sldIdLst>
            <p14:sldId id="30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85866" autoAdjust="0"/>
  </p:normalViewPr>
  <p:slideViewPr>
    <p:cSldViewPr snapToGrid="0">
      <p:cViewPr varScale="1">
        <p:scale>
          <a:sx n="85" d="100"/>
          <a:sy n="85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771A6-62EB-40DE-96A6-D3F6893D5DF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6100CD-22DF-40D1-B563-0D532B7220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Project Overview</a:t>
          </a:r>
        </a:p>
      </dgm:t>
    </dgm:pt>
    <dgm:pt modelId="{215705B0-C3F6-4790-AEDD-0C0A035CF64E}" type="parTrans" cxnId="{8A97008E-8379-49C0-B2E2-3DE8C94F4A0C}">
      <dgm:prSet/>
      <dgm:spPr/>
      <dgm:t>
        <a:bodyPr/>
        <a:lstStyle/>
        <a:p>
          <a:endParaRPr lang="en-US"/>
        </a:p>
      </dgm:t>
    </dgm:pt>
    <dgm:pt modelId="{FD476A68-5B30-40E9-AA42-A7CEFE847112}" type="sibTrans" cxnId="{8A97008E-8379-49C0-B2E2-3DE8C94F4A0C}">
      <dgm:prSet/>
      <dgm:spPr/>
      <dgm:t>
        <a:bodyPr/>
        <a:lstStyle/>
        <a:p>
          <a:endParaRPr lang="en-US"/>
        </a:p>
      </dgm:t>
    </dgm:pt>
    <dgm:pt modelId="{23D86401-C82D-4622-96BC-BFBFA0569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Data Acquisition &amp; Processing</a:t>
          </a:r>
        </a:p>
      </dgm:t>
    </dgm:pt>
    <dgm:pt modelId="{C24F9AC5-1539-4CDA-9D30-C19CC1B7B4E2}" type="parTrans" cxnId="{47626BAF-679A-471D-B98C-E8931899742A}">
      <dgm:prSet/>
      <dgm:spPr/>
      <dgm:t>
        <a:bodyPr/>
        <a:lstStyle/>
        <a:p>
          <a:endParaRPr lang="en-US"/>
        </a:p>
      </dgm:t>
    </dgm:pt>
    <dgm:pt modelId="{80AC0116-E724-4CB7-8041-BC308487DBE9}" type="sibTrans" cxnId="{47626BAF-679A-471D-B98C-E8931899742A}">
      <dgm:prSet/>
      <dgm:spPr/>
      <dgm:t>
        <a:bodyPr/>
        <a:lstStyle/>
        <a:p>
          <a:endParaRPr lang="en-US"/>
        </a:p>
      </dgm:t>
    </dgm:pt>
    <dgm:pt modelId="{4F45ACEA-BE95-4BD4-817D-802599F875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Model Selection &amp; Performance</a:t>
          </a:r>
        </a:p>
      </dgm:t>
    </dgm:pt>
    <dgm:pt modelId="{A027D3BD-FFC0-4D8B-9611-0E96D38F0081}" type="parTrans" cxnId="{B819606A-7D2D-4E1D-965B-66C51CC44872}">
      <dgm:prSet/>
      <dgm:spPr/>
      <dgm:t>
        <a:bodyPr/>
        <a:lstStyle/>
        <a:p>
          <a:endParaRPr lang="en-US"/>
        </a:p>
      </dgm:t>
    </dgm:pt>
    <dgm:pt modelId="{E42AA14D-0018-4099-BBE7-61072984B59C}" type="sibTrans" cxnId="{B819606A-7D2D-4E1D-965B-66C51CC44872}">
      <dgm:prSet/>
      <dgm:spPr/>
      <dgm:t>
        <a:bodyPr/>
        <a:lstStyle/>
        <a:p>
          <a:endParaRPr lang="en-US"/>
        </a:p>
      </dgm:t>
    </dgm:pt>
    <dgm:pt modelId="{866E9CF6-CE2D-4CDB-A323-2744B64D1B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Take-Aways</a:t>
          </a:r>
        </a:p>
      </dgm:t>
    </dgm:pt>
    <dgm:pt modelId="{675F1C4B-2AD7-459C-8733-4FF2A958F65F}" type="parTrans" cxnId="{9B7B10C5-9A89-4435-AEF4-6C18177A7B19}">
      <dgm:prSet/>
      <dgm:spPr/>
      <dgm:t>
        <a:bodyPr/>
        <a:lstStyle/>
        <a:p>
          <a:endParaRPr lang="en-US"/>
        </a:p>
      </dgm:t>
    </dgm:pt>
    <dgm:pt modelId="{0FCFCCAE-7927-4EC7-9095-5F479164D59A}" type="sibTrans" cxnId="{9B7B10C5-9A89-4435-AEF4-6C18177A7B19}">
      <dgm:prSet/>
      <dgm:spPr/>
      <dgm:t>
        <a:bodyPr/>
        <a:lstStyle/>
        <a:p>
          <a:endParaRPr lang="en-US"/>
        </a:p>
      </dgm:t>
    </dgm:pt>
    <dgm:pt modelId="{07CAF645-3D30-43F0-829C-3C61B39023A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Data Overview</a:t>
          </a:r>
        </a:p>
      </dgm:t>
    </dgm:pt>
    <dgm:pt modelId="{22DB9EA1-D4BC-44B6-BA3C-97890643104D}" type="sibTrans" cxnId="{C3875E98-6E9C-4963-81B1-11323B7A310B}">
      <dgm:prSet/>
      <dgm:spPr/>
      <dgm:t>
        <a:bodyPr/>
        <a:lstStyle/>
        <a:p>
          <a:endParaRPr lang="en-US"/>
        </a:p>
      </dgm:t>
    </dgm:pt>
    <dgm:pt modelId="{DEB96E58-D806-4305-9C29-C26A8F6B10C2}" type="parTrans" cxnId="{C3875E98-6E9C-4963-81B1-11323B7A310B}">
      <dgm:prSet/>
      <dgm:spPr/>
      <dgm:t>
        <a:bodyPr/>
        <a:lstStyle/>
        <a:p>
          <a:endParaRPr lang="en-US"/>
        </a:p>
      </dgm:t>
    </dgm:pt>
    <dgm:pt modelId="{F79C7552-489E-4645-83C9-044498A09074}" type="pres">
      <dgm:prSet presAssocID="{58C771A6-62EB-40DE-96A6-D3F6893D5DF1}" presName="root" presStyleCnt="0">
        <dgm:presLayoutVars>
          <dgm:dir/>
          <dgm:resizeHandles val="exact"/>
        </dgm:presLayoutVars>
      </dgm:prSet>
      <dgm:spPr/>
    </dgm:pt>
    <dgm:pt modelId="{91186C63-F21B-4A7E-9163-6314C782E221}" type="pres">
      <dgm:prSet presAssocID="{126100CD-22DF-40D1-B563-0D532B7220BD}" presName="compNode" presStyleCnt="0"/>
      <dgm:spPr/>
    </dgm:pt>
    <dgm:pt modelId="{EEEAD4E0-2CA2-4BBB-B5E3-9E66749F8088}" type="pres">
      <dgm:prSet presAssocID="{126100CD-22DF-40D1-B563-0D532B7220BD}" presName="iconBgRect" presStyleLbl="bgShp" presStyleIdx="0" presStyleCnt="5"/>
      <dgm:spPr/>
    </dgm:pt>
    <dgm:pt modelId="{FBDCEEAC-A7A5-4B88-8A27-EAAC80A870EB}" type="pres">
      <dgm:prSet presAssocID="{126100CD-22DF-40D1-B563-0D532B7220B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7597CAB5-23EA-4BE1-B1FD-B9D70D373A7C}" type="pres">
      <dgm:prSet presAssocID="{126100CD-22DF-40D1-B563-0D532B7220BD}" presName="spaceRect" presStyleCnt="0"/>
      <dgm:spPr/>
    </dgm:pt>
    <dgm:pt modelId="{72DA4E73-5ACE-4711-8010-2DAAFAD93692}" type="pres">
      <dgm:prSet presAssocID="{126100CD-22DF-40D1-B563-0D532B7220BD}" presName="textRect" presStyleLbl="revTx" presStyleIdx="0" presStyleCnt="5">
        <dgm:presLayoutVars>
          <dgm:chMax val="1"/>
          <dgm:chPref val="1"/>
        </dgm:presLayoutVars>
      </dgm:prSet>
      <dgm:spPr/>
    </dgm:pt>
    <dgm:pt modelId="{3C09D2AB-E222-4DC3-ADBA-D5EA179D876D}" type="pres">
      <dgm:prSet presAssocID="{FD476A68-5B30-40E9-AA42-A7CEFE847112}" presName="sibTrans" presStyleCnt="0"/>
      <dgm:spPr/>
    </dgm:pt>
    <dgm:pt modelId="{75778E99-4A9D-491A-873F-128FDEB58B66}" type="pres">
      <dgm:prSet presAssocID="{07CAF645-3D30-43F0-829C-3C61B39023A1}" presName="compNode" presStyleCnt="0"/>
      <dgm:spPr/>
    </dgm:pt>
    <dgm:pt modelId="{2C9CDD20-51F8-4B63-A1E3-943F88694D9E}" type="pres">
      <dgm:prSet presAssocID="{07CAF645-3D30-43F0-829C-3C61B39023A1}" presName="iconBgRect" presStyleLbl="bgShp" presStyleIdx="1" presStyleCnt="5"/>
      <dgm:spPr/>
    </dgm:pt>
    <dgm:pt modelId="{0C3877D6-5C83-4358-9079-EB4601ADC4BE}" type="pres">
      <dgm:prSet presAssocID="{07CAF645-3D30-43F0-829C-3C61B39023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C47C9A-9B89-4115-9793-49178926FA85}" type="pres">
      <dgm:prSet presAssocID="{07CAF645-3D30-43F0-829C-3C61B39023A1}" presName="spaceRect" presStyleCnt="0"/>
      <dgm:spPr/>
    </dgm:pt>
    <dgm:pt modelId="{6815F9F8-E15E-42B6-8F32-FCEA03F5A3CA}" type="pres">
      <dgm:prSet presAssocID="{07CAF645-3D30-43F0-829C-3C61B39023A1}" presName="textRect" presStyleLbl="revTx" presStyleIdx="1" presStyleCnt="5">
        <dgm:presLayoutVars>
          <dgm:chMax val="1"/>
          <dgm:chPref val="1"/>
        </dgm:presLayoutVars>
      </dgm:prSet>
      <dgm:spPr/>
    </dgm:pt>
    <dgm:pt modelId="{2FA074FF-2E68-4875-8153-523F68E7A6A1}" type="pres">
      <dgm:prSet presAssocID="{22DB9EA1-D4BC-44B6-BA3C-97890643104D}" presName="sibTrans" presStyleCnt="0"/>
      <dgm:spPr/>
    </dgm:pt>
    <dgm:pt modelId="{0B60941C-B5B1-4C92-A528-D548738C5271}" type="pres">
      <dgm:prSet presAssocID="{23D86401-C82D-4622-96BC-BFBFA056946F}" presName="compNode" presStyleCnt="0"/>
      <dgm:spPr/>
    </dgm:pt>
    <dgm:pt modelId="{72D7CC0E-0D42-4CDF-A3FC-CB6D2B9AA0C4}" type="pres">
      <dgm:prSet presAssocID="{23D86401-C82D-4622-96BC-BFBFA056946F}" presName="iconBgRect" presStyleLbl="bgShp" presStyleIdx="2" presStyleCnt="5"/>
      <dgm:spPr/>
    </dgm:pt>
    <dgm:pt modelId="{A1ECA9B3-0ABE-4505-824C-4E932B778CE7}" type="pres">
      <dgm:prSet presAssocID="{23D86401-C82D-4622-96BC-BFBFA056946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C8652C5-E125-44A5-82DA-5387F22122AA}" type="pres">
      <dgm:prSet presAssocID="{23D86401-C82D-4622-96BC-BFBFA056946F}" presName="spaceRect" presStyleCnt="0"/>
      <dgm:spPr/>
    </dgm:pt>
    <dgm:pt modelId="{086E6C96-744B-48A5-8D15-B1114BD609A9}" type="pres">
      <dgm:prSet presAssocID="{23D86401-C82D-4622-96BC-BFBFA056946F}" presName="textRect" presStyleLbl="revTx" presStyleIdx="2" presStyleCnt="5">
        <dgm:presLayoutVars>
          <dgm:chMax val="1"/>
          <dgm:chPref val="1"/>
        </dgm:presLayoutVars>
      </dgm:prSet>
      <dgm:spPr/>
    </dgm:pt>
    <dgm:pt modelId="{E2510F85-5299-4041-AE91-5087EED0BEC2}" type="pres">
      <dgm:prSet presAssocID="{80AC0116-E724-4CB7-8041-BC308487DBE9}" presName="sibTrans" presStyleCnt="0"/>
      <dgm:spPr/>
    </dgm:pt>
    <dgm:pt modelId="{5D5E76FC-3676-4A3C-B665-ED651792B779}" type="pres">
      <dgm:prSet presAssocID="{4F45ACEA-BE95-4BD4-817D-802599F87524}" presName="compNode" presStyleCnt="0"/>
      <dgm:spPr/>
    </dgm:pt>
    <dgm:pt modelId="{453A5838-7624-4EE9-B08F-92137982D8E5}" type="pres">
      <dgm:prSet presAssocID="{4F45ACEA-BE95-4BD4-817D-802599F87524}" presName="iconBgRect" presStyleLbl="bgShp" presStyleIdx="3" presStyleCnt="5"/>
      <dgm:spPr/>
    </dgm:pt>
    <dgm:pt modelId="{C6940ECA-3BB1-48C9-B5C9-9F9EC58EB248}" type="pres">
      <dgm:prSet presAssocID="{4F45ACEA-BE95-4BD4-817D-802599F875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BF94CB9-8917-4716-A074-AE5D73EB00F6}" type="pres">
      <dgm:prSet presAssocID="{4F45ACEA-BE95-4BD4-817D-802599F87524}" presName="spaceRect" presStyleCnt="0"/>
      <dgm:spPr/>
    </dgm:pt>
    <dgm:pt modelId="{D18F5A64-DA14-4A2F-9289-86CAE232D8F8}" type="pres">
      <dgm:prSet presAssocID="{4F45ACEA-BE95-4BD4-817D-802599F87524}" presName="textRect" presStyleLbl="revTx" presStyleIdx="3" presStyleCnt="5">
        <dgm:presLayoutVars>
          <dgm:chMax val="1"/>
          <dgm:chPref val="1"/>
        </dgm:presLayoutVars>
      </dgm:prSet>
      <dgm:spPr/>
    </dgm:pt>
    <dgm:pt modelId="{811B8404-86F9-4267-A9D5-D9605D349CED}" type="pres">
      <dgm:prSet presAssocID="{E42AA14D-0018-4099-BBE7-61072984B59C}" presName="sibTrans" presStyleCnt="0"/>
      <dgm:spPr/>
    </dgm:pt>
    <dgm:pt modelId="{C657D1FF-7FCA-4815-9309-E53F13A3EE4E}" type="pres">
      <dgm:prSet presAssocID="{866E9CF6-CE2D-4CDB-A323-2744B64D1B6A}" presName="compNode" presStyleCnt="0"/>
      <dgm:spPr/>
    </dgm:pt>
    <dgm:pt modelId="{C76F5558-649D-43BC-BC12-FA26AAC1CD1E}" type="pres">
      <dgm:prSet presAssocID="{866E9CF6-CE2D-4CDB-A323-2744B64D1B6A}" presName="iconBgRect" presStyleLbl="bgShp" presStyleIdx="4" presStyleCnt="5"/>
      <dgm:spPr/>
    </dgm:pt>
    <dgm:pt modelId="{E2695678-A341-4250-AF2D-26DAA3687B59}" type="pres">
      <dgm:prSet presAssocID="{866E9CF6-CE2D-4CDB-A323-2744B64D1B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922AFBD-730C-4BC0-9B0F-A445F34DE900}" type="pres">
      <dgm:prSet presAssocID="{866E9CF6-CE2D-4CDB-A323-2744B64D1B6A}" presName="spaceRect" presStyleCnt="0"/>
      <dgm:spPr/>
    </dgm:pt>
    <dgm:pt modelId="{9B6FF9BF-DFD4-4CCD-8B4D-62F680A4FDFC}" type="pres">
      <dgm:prSet presAssocID="{866E9CF6-CE2D-4CDB-A323-2744B64D1B6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FAA691B-7EE6-46AB-AA46-BC4DB90FAF47}" type="presOf" srcId="{07CAF645-3D30-43F0-829C-3C61B39023A1}" destId="{6815F9F8-E15E-42B6-8F32-FCEA03F5A3CA}" srcOrd="0" destOrd="0" presId="urn:microsoft.com/office/officeart/2018/5/layout/IconCircleLabelList"/>
    <dgm:cxn modelId="{B819606A-7D2D-4E1D-965B-66C51CC44872}" srcId="{58C771A6-62EB-40DE-96A6-D3F6893D5DF1}" destId="{4F45ACEA-BE95-4BD4-817D-802599F87524}" srcOrd="3" destOrd="0" parTransId="{A027D3BD-FFC0-4D8B-9611-0E96D38F0081}" sibTransId="{E42AA14D-0018-4099-BBE7-61072984B59C}"/>
    <dgm:cxn modelId="{C651124B-D7FE-488C-86E0-9D841A3E5C90}" type="presOf" srcId="{126100CD-22DF-40D1-B563-0D532B7220BD}" destId="{72DA4E73-5ACE-4711-8010-2DAAFAD93692}" srcOrd="0" destOrd="0" presId="urn:microsoft.com/office/officeart/2018/5/layout/IconCircleLabelList"/>
    <dgm:cxn modelId="{E5909275-7EE6-4A3F-B0FE-28AE9C8F1640}" type="presOf" srcId="{4F45ACEA-BE95-4BD4-817D-802599F87524}" destId="{D18F5A64-DA14-4A2F-9289-86CAE232D8F8}" srcOrd="0" destOrd="0" presId="urn:microsoft.com/office/officeart/2018/5/layout/IconCircleLabelList"/>
    <dgm:cxn modelId="{8A97008E-8379-49C0-B2E2-3DE8C94F4A0C}" srcId="{58C771A6-62EB-40DE-96A6-D3F6893D5DF1}" destId="{126100CD-22DF-40D1-B563-0D532B7220BD}" srcOrd="0" destOrd="0" parTransId="{215705B0-C3F6-4790-AEDD-0C0A035CF64E}" sibTransId="{FD476A68-5B30-40E9-AA42-A7CEFE847112}"/>
    <dgm:cxn modelId="{C3875E98-6E9C-4963-81B1-11323B7A310B}" srcId="{58C771A6-62EB-40DE-96A6-D3F6893D5DF1}" destId="{07CAF645-3D30-43F0-829C-3C61B39023A1}" srcOrd="1" destOrd="0" parTransId="{DEB96E58-D806-4305-9C29-C26A8F6B10C2}" sibTransId="{22DB9EA1-D4BC-44B6-BA3C-97890643104D}"/>
    <dgm:cxn modelId="{9D47ACA0-5610-4B65-BF6F-0059421567A3}" type="presOf" srcId="{58C771A6-62EB-40DE-96A6-D3F6893D5DF1}" destId="{F79C7552-489E-4645-83C9-044498A09074}" srcOrd="0" destOrd="0" presId="urn:microsoft.com/office/officeart/2018/5/layout/IconCircleLabelList"/>
    <dgm:cxn modelId="{47626BAF-679A-471D-B98C-E8931899742A}" srcId="{58C771A6-62EB-40DE-96A6-D3F6893D5DF1}" destId="{23D86401-C82D-4622-96BC-BFBFA056946F}" srcOrd="2" destOrd="0" parTransId="{C24F9AC5-1539-4CDA-9D30-C19CC1B7B4E2}" sibTransId="{80AC0116-E724-4CB7-8041-BC308487DBE9}"/>
    <dgm:cxn modelId="{9B7B10C5-9A89-4435-AEF4-6C18177A7B19}" srcId="{58C771A6-62EB-40DE-96A6-D3F6893D5DF1}" destId="{866E9CF6-CE2D-4CDB-A323-2744B64D1B6A}" srcOrd="4" destOrd="0" parTransId="{675F1C4B-2AD7-459C-8733-4FF2A958F65F}" sibTransId="{0FCFCCAE-7927-4EC7-9095-5F479164D59A}"/>
    <dgm:cxn modelId="{BFF179CA-D9DD-45CF-85DE-40155ACF95BC}" type="presOf" srcId="{866E9CF6-CE2D-4CDB-A323-2744B64D1B6A}" destId="{9B6FF9BF-DFD4-4CCD-8B4D-62F680A4FDFC}" srcOrd="0" destOrd="0" presId="urn:microsoft.com/office/officeart/2018/5/layout/IconCircleLabelList"/>
    <dgm:cxn modelId="{9F2048DB-FB34-47F8-9554-3A3A21B12FB8}" type="presOf" srcId="{23D86401-C82D-4622-96BC-BFBFA056946F}" destId="{086E6C96-744B-48A5-8D15-B1114BD609A9}" srcOrd="0" destOrd="0" presId="urn:microsoft.com/office/officeart/2018/5/layout/IconCircleLabelList"/>
    <dgm:cxn modelId="{1B74750F-C07F-44A8-9E93-EFE24364A478}" type="presParOf" srcId="{F79C7552-489E-4645-83C9-044498A09074}" destId="{91186C63-F21B-4A7E-9163-6314C782E221}" srcOrd="0" destOrd="0" presId="urn:microsoft.com/office/officeart/2018/5/layout/IconCircleLabelList"/>
    <dgm:cxn modelId="{5FB844FF-F12C-4092-A753-1BD6A2E650B3}" type="presParOf" srcId="{91186C63-F21B-4A7E-9163-6314C782E221}" destId="{EEEAD4E0-2CA2-4BBB-B5E3-9E66749F8088}" srcOrd="0" destOrd="0" presId="urn:microsoft.com/office/officeart/2018/5/layout/IconCircleLabelList"/>
    <dgm:cxn modelId="{67E2D619-05AD-4427-8D3D-77CD325CC920}" type="presParOf" srcId="{91186C63-F21B-4A7E-9163-6314C782E221}" destId="{FBDCEEAC-A7A5-4B88-8A27-EAAC80A870EB}" srcOrd="1" destOrd="0" presId="urn:microsoft.com/office/officeart/2018/5/layout/IconCircleLabelList"/>
    <dgm:cxn modelId="{A5BCC844-34C7-4E40-BD87-9C4AE17C8BBA}" type="presParOf" srcId="{91186C63-F21B-4A7E-9163-6314C782E221}" destId="{7597CAB5-23EA-4BE1-B1FD-B9D70D373A7C}" srcOrd="2" destOrd="0" presId="urn:microsoft.com/office/officeart/2018/5/layout/IconCircleLabelList"/>
    <dgm:cxn modelId="{7A0B0BDA-CACC-466D-9024-98FB98D7406E}" type="presParOf" srcId="{91186C63-F21B-4A7E-9163-6314C782E221}" destId="{72DA4E73-5ACE-4711-8010-2DAAFAD93692}" srcOrd="3" destOrd="0" presId="urn:microsoft.com/office/officeart/2018/5/layout/IconCircleLabelList"/>
    <dgm:cxn modelId="{7F2BD3DD-FC63-4E71-A307-7A244EE85C78}" type="presParOf" srcId="{F79C7552-489E-4645-83C9-044498A09074}" destId="{3C09D2AB-E222-4DC3-ADBA-D5EA179D876D}" srcOrd="1" destOrd="0" presId="urn:microsoft.com/office/officeart/2018/5/layout/IconCircleLabelList"/>
    <dgm:cxn modelId="{1AA490ED-21A1-4F0F-99C3-DC2E9592F8B3}" type="presParOf" srcId="{F79C7552-489E-4645-83C9-044498A09074}" destId="{75778E99-4A9D-491A-873F-128FDEB58B66}" srcOrd="2" destOrd="0" presId="urn:microsoft.com/office/officeart/2018/5/layout/IconCircleLabelList"/>
    <dgm:cxn modelId="{DF8F6DF2-AA5E-4FA8-BAA8-55B4AE2AB6AE}" type="presParOf" srcId="{75778E99-4A9D-491A-873F-128FDEB58B66}" destId="{2C9CDD20-51F8-4B63-A1E3-943F88694D9E}" srcOrd="0" destOrd="0" presId="urn:microsoft.com/office/officeart/2018/5/layout/IconCircleLabelList"/>
    <dgm:cxn modelId="{19047243-0041-4F66-A206-D59ACF544F81}" type="presParOf" srcId="{75778E99-4A9D-491A-873F-128FDEB58B66}" destId="{0C3877D6-5C83-4358-9079-EB4601ADC4BE}" srcOrd="1" destOrd="0" presId="urn:microsoft.com/office/officeart/2018/5/layout/IconCircleLabelList"/>
    <dgm:cxn modelId="{AEB69360-AC4C-4F7B-BEE4-E00E937291BC}" type="presParOf" srcId="{75778E99-4A9D-491A-873F-128FDEB58B66}" destId="{D0C47C9A-9B89-4115-9793-49178926FA85}" srcOrd="2" destOrd="0" presId="urn:microsoft.com/office/officeart/2018/5/layout/IconCircleLabelList"/>
    <dgm:cxn modelId="{78D17E8F-3A0B-411E-A3D7-8E39A24C0618}" type="presParOf" srcId="{75778E99-4A9D-491A-873F-128FDEB58B66}" destId="{6815F9F8-E15E-42B6-8F32-FCEA03F5A3CA}" srcOrd="3" destOrd="0" presId="urn:microsoft.com/office/officeart/2018/5/layout/IconCircleLabelList"/>
    <dgm:cxn modelId="{B68C0ABE-9360-4564-94D3-15476CC48A15}" type="presParOf" srcId="{F79C7552-489E-4645-83C9-044498A09074}" destId="{2FA074FF-2E68-4875-8153-523F68E7A6A1}" srcOrd="3" destOrd="0" presId="urn:microsoft.com/office/officeart/2018/5/layout/IconCircleLabelList"/>
    <dgm:cxn modelId="{90EAEE98-F49A-4F50-A0BE-0CBF0E924C1A}" type="presParOf" srcId="{F79C7552-489E-4645-83C9-044498A09074}" destId="{0B60941C-B5B1-4C92-A528-D548738C5271}" srcOrd="4" destOrd="0" presId="urn:microsoft.com/office/officeart/2018/5/layout/IconCircleLabelList"/>
    <dgm:cxn modelId="{1AA873D4-86FE-434F-9F6D-A3A580FD84FD}" type="presParOf" srcId="{0B60941C-B5B1-4C92-A528-D548738C5271}" destId="{72D7CC0E-0D42-4CDF-A3FC-CB6D2B9AA0C4}" srcOrd="0" destOrd="0" presId="urn:microsoft.com/office/officeart/2018/5/layout/IconCircleLabelList"/>
    <dgm:cxn modelId="{B6BDF738-3676-499A-B62F-409291A8C2EA}" type="presParOf" srcId="{0B60941C-B5B1-4C92-A528-D548738C5271}" destId="{A1ECA9B3-0ABE-4505-824C-4E932B778CE7}" srcOrd="1" destOrd="0" presId="urn:microsoft.com/office/officeart/2018/5/layout/IconCircleLabelList"/>
    <dgm:cxn modelId="{E02855F2-13CE-4CB5-B7F0-44616D435745}" type="presParOf" srcId="{0B60941C-B5B1-4C92-A528-D548738C5271}" destId="{3C8652C5-E125-44A5-82DA-5387F22122AA}" srcOrd="2" destOrd="0" presId="urn:microsoft.com/office/officeart/2018/5/layout/IconCircleLabelList"/>
    <dgm:cxn modelId="{9DEA1B67-3C55-4523-A700-9800114A02F1}" type="presParOf" srcId="{0B60941C-B5B1-4C92-A528-D548738C5271}" destId="{086E6C96-744B-48A5-8D15-B1114BD609A9}" srcOrd="3" destOrd="0" presId="urn:microsoft.com/office/officeart/2018/5/layout/IconCircleLabelList"/>
    <dgm:cxn modelId="{30572F72-B387-4F4B-B4E3-12CACEB590A8}" type="presParOf" srcId="{F79C7552-489E-4645-83C9-044498A09074}" destId="{E2510F85-5299-4041-AE91-5087EED0BEC2}" srcOrd="5" destOrd="0" presId="urn:microsoft.com/office/officeart/2018/5/layout/IconCircleLabelList"/>
    <dgm:cxn modelId="{079990BE-2C8C-4C63-A4E3-480D08C6CEBA}" type="presParOf" srcId="{F79C7552-489E-4645-83C9-044498A09074}" destId="{5D5E76FC-3676-4A3C-B665-ED651792B779}" srcOrd="6" destOrd="0" presId="urn:microsoft.com/office/officeart/2018/5/layout/IconCircleLabelList"/>
    <dgm:cxn modelId="{2B63BBBD-72B5-4D3F-8F54-C9BC3F5E75E6}" type="presParOf" srcId="{5D5E76FC-3676-4A3C-B665-ED651792B779}" destId="{453A5838-7624-4EE9-B08F-92137982D8E5}" srcOrd="0" destOrd="0" presId="urn:microsoft.com/office/officeart/2018/5/layout/IconCircleLabelList"/>
    <dgm:cxn modelId="{A84592FB-C99A-43DD-974D-A1F963E83B76}" type="presParOf" srcId="{5D5E76FC-3676-4A3C-B665-ED651792B779}" destId="{C6940ECA-3BB1-48C9-B5C9-9F9EC58EB248}" srcOrd="1" destOrd="0" presId="urn:microsoft.com/office/officeart/2018/5/layout/IconCircleLabelList"/>
    <dgm:cxn modelId="{3F72B76F-9730-4B22-8581-859722868B04}" type="presParOf" srcId="{5D5E76FC-3676-4A3C-B665-ED651792B779}" destId="{5BF94CB9-8917-4716-A074-AE5D73EB00F6}" srcOrd="2" destOrd="0" presId="urn:microsoft.com/office/officeart/2018/5/layout/IconCircleLabelList"/>
    <dgm:cxn modelId="{40FA0E39-75BA-4A3E-8136-722E5FF4BCC4}" type="presParOf" srcId="{5D5E76FC-3676-4A3C-B665-ED651792B779}" destId="{D18F5A64-DA14-4A2F-9289-86CAE232D8F8}" srcOrd="3" destOrd="0" presId="urn:microsoft.com/office/officeart/2018/5/layout/IconCircleLabelList"/>
    <dgm:cxn modelId="{26E79019-B2BA-4C96-A68C-4D1D01FD50CE}" type="presParOf" srcId="{F79C7552-489E-4645-83C9-044498A09074}" destId="{811B8404-86F9-4267-A9D5-D9605D349CED}" srcOrd="7" destOrd="0" presId="urn:microsoft.com/office/officeart/2018/5/layout/IconCircleLabelList"/>
    <dgm:cxn modelId="{4562A762-292D-4A5D-B324-242CDC2BFF19}" type="presParOf" srcId="{F79C7552-489E-4645-83C9-044498A09074}" destId="{C657D1FF-7FCA-4815-9309-E53F13A3EE4E}" srcOrd="8" destOrd="0" presId="urn:microsoft.com/office/officeart/2018/5/layout/IconCircleLabelList"/>
    <dgm:cxn modelId="{6BD2A238-C9E8-40FA-9075-E3E96C58A53C}" type="presParOf" srcId="{C657D1FF-7FCA-4815-9309-E53F13A3EE4E}" destId="{C76F5558-649D-43BC-BC12-FA26AAC1CD1E}" srcOrd="0" destOrd="0" presId="urn:microsoft.com/office/officeart/2018/5/layout/IconCircleLabelList"/>
    <dgm:cxn modelId="{1B1E3469-A90C-4F8C-91B7-B40FE2AC1DA2}" type="presParOf" srcId="{C657D1FF-7FCA-4815-9309-E53F13A3EE4E}" destId="{E2695678-A341-4250-AF2D-26DAA3687B59}" srcOrd="1" destOrd="0" presId="urn:microsoft.com/office/officeart/2018/5/layout/IconCircleLabelList"/>
    <dgm:cxn modelId="{1FB92341-6206-44D9-BBDE-6085D938AB76}" type="presParOf" srcId="{C657D1FF-7FCA-4815-9309-E53F13A3EE4E}" destId="{1922AFBD-730C-4BC0-9B0F-A445F34DE900}" srcOrd="2" destOrd="0" presId="urn:microsoft.com/office/officeart/2018/5/layout/IconCircleLabelList"/>
    <dgm:cxn modelId="{6223C22A-8DEC-4FD7-B9F0-160FA25C090C}" type="presParOf" srcId="{C657D1FF-7FCA-4815-9309-E53F13A3EE4E}" destId="{9B6FF9BF-DFD4-4CCD-8B4D-62F680A4FDF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AD4E0-2CA2-4BBB-B5E3-9E66749F8088}">
      <dsp:nvSpPr>
        <dsp:cNvPr id="0" name=""/>
        <dsp:cNvSpPr/>
      </dsp:nvSpPr>
      <dsp:spPr>
        <a:xfrm>
          <a:off x="328690" y="229345"/>
          <a:ext cx="1027230" cy="102723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CEEAC-A7A5-4B88-8A27-EAAC80A870EB}">
      <dsp:nvSpPr>
        <dsp:cNvPr id="0" name=""/>
        <dsp:cNvSpPr/>
      </dsp:nvSpPr>
      <dsp:spPr>
        <a:xfrm>
          <a:off x="547608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A4E73-5ACE-4711-8010-2DAAFAD93692}">
      <dsp:nvSpPr>
        <dsp:cNvPr id="0" name=""/>
        <dsp:cNvSpPr/>
      </dsp:nvSpPr>
      <dsp:spPr>
        <a:xfrm>
          <a:off x="313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Project Overview</a:t>
          </a:r>
        </a:p>
      </dsp:txBody>
      <dsp:txXfrm>
        <a:off x="313" y="1576533"/>
        <a:ext cx="1683984" cy="673593"/>
      </dsp:txXfrm>
    </dsp:sp>
    <dsp:sp modelId="{2C9CDD20-51F8-4B63-A1E3-943F88694D9E}">
      <dsp:nvSpPr>
        <dsp:cNvPr id="0" name=""/>
        <dsp:cNvSpPr/>
      </dsp:nvSpPr>
      <dsp:spPr>
        <a:xfrm>
          <a:off x="2307372" y="229345"/>
          <a:ext cx="1027230" cy="10272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877D6-5C83-4358-9079-EB4601ADC4BE}">
      <dsp:nvSpPr>
        <dsp:cNvPr id="0" name=""/>
        <dsp:cNvSpPr/>
      </dsp:nvSpPr>
      <dsp:spPr>
        <a:xfrm>
          <a:off x="2526290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5F9F8-E15E-42B6-8F32-FCEA03F5A3CA}">
      <dsp:nvSpPr>
        <dsp:cNvPr id="0" name=""/>
        <dsp:cNvSpPr/>
      </dsp:nvSpPr>
      <dsp:spPr>
        <a:xfrm>
          <a:off x="1978995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Data Overview</a:t>
          </a:r>
        </a:p>
      </dsp:txBody>
      <dsp:txXfrm>
        <a:off x="1978995" y="1576533"/>
        <a:ext cx="1683984" cy="673593"/>
      </dsp:txXfrm>
    </dsp:sp>
    <dsp:sp modelId="{72D7CC0E-0D42-4CDF-A3FC-CB6D2B9AA0C4}">
      <dsp:nvSpPr>
        <dsp:cNvPr id="0" name=""/>
        <dsp:cNvSpPr/>
      </dsp:nvSpPr>
      <dsp:spPr>
        <a:xfrm>
          <a:off x="4286053" y="229345"/>
          <a:ext cx="1027230" cy="102723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CA9B3-0ABE-4505-824C-4E932B778CE7}">
      <dsp:nvSpPr>
        <dsp:cNvPr id="0" name=""/>
        <dsp:cNvSpPr/>
      </dsp:nvSpPr>
      <dsp:spPr>
        <a:xfrm>
          <a:off x="4504971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E6C96-744B-48A5-8D15-B1114BD609A9}">
      <dsp:nvSpPr>
        <dsp:cNvPr id="0" name=""/>
        <dsp:cNvSpPr/>
      </dsp:nvSpPr>
      <dsp:spPr>
        <a:xfrm>
          <a:off x="3957676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Data Acquisition &amp; Processing</a:t>
          </a:r>
        </a:p>
      </dsp:txBody>
      <dsp:txXfrm>
        <a:off x="3957676" y="1576533"/>
        <a:ext cx="1683984" cy="673593"/>
      </dsp:txXfrm>
    </dsp:sp>
    <dsp:sp modelId="{453A5838-7624-4EE9-B08F-92137982D8E5}">
      <dsp:nvSpPr>
        <dsp:cNvPr id="0" name=""/>
        <dsp:cNvSpPr/>
      </dsp:nvSpPr>
      <dsp:spPr>
        <a:xfrm>
          <a:off x="1318031" y="2671123"/>
          <a:ext cx="1027230" cy="102723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40ECA-3BB1-48C9-B5C9-9F9EC58EB248}">
      <dsp:nvSpPr>
        <dsp:cNvPr id="0" name=""/>
        <dsp:cNvSpPr/>
      </dsp:nvSpPr>
      <dsp:spPr>
        <a:xfrm>
          <a:off x="1536949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F5A64-DA14-4A2F-9289-86CAE232D8F8}">
      <dsp:nvSpPr>
        <dsp:cNvPr id="0" name=""/>
        <dsp:cNvSpPr/>
      </dsp:nvSpPr>
      <dsp:spPr>
        <a:xfrm>
          <a:off x="989654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Model Selection &amp; Performance</a:t>
          </a:r>
        </a:p>
      </dsp:txBody>
      <dsp:txXfrm>
        <a:off x="989654" y="4018310"/>
        <a:ext cx="1683984" cy="673593"/>
      </dsp:txXfrm>
    </dsp:sp>
    <dsp:sp modelId="{C76F5558-649D-43BC-BC12-FA26AAC1CD1E}">
      <dsp:nvSpPr>
        <dsp:cNvPr id="0" name=""/>
        <dsp:cNvSpPr/>
      </dsp:nvSpPr>
      <dsp:spPr>
        <a:xfrm>
          <a:off x="3296713" y="2671123"/>
          <a:ext cx="1027230" cy="102723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5678-A341-4250-AF2D-26DAA3687B59}">
      <dsp:nvSpPr>
        <dsp:cNvPr id="0" name=""/>
        <dsp:cNvSpPr/>
      </dsp:nvSpPr>
      <dsp:spPr>
        <a:xfrm>
          <a:off x="3515631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FF9BF-DFD4-4CCD-8B4D-62F680A4FDFC}">
      <dsp:nvSpPr>
        <dsp:cNvPr id="0" name=""/>
        <dsp:cNvSpPr/>
      </dsp:nvSpPr>
      <dsp:spPr>
        <a:xfrm>
          <a:off x="2968336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Take-Aways</a:t>
          </a:r>
        </a:p>
      </dsp:txBody>
      <dsp:txXfrm>
        <a:off x="2968336" y="4018310"/>
        <a:ext cx="1683984" cy="673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4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2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39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11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2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43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51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55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5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05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4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12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1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4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7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1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7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3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89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260" y="462455"/>
            <a:ext cx="10515600" cy="8222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D2472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5936"/>
            <a:ext cx="10515600" cy="4351338"/>
          </a:xfrm>
        </p:spPr>
        <p:txBody>
          <a:bodyPr/>
          <a:lstStyle>
            <a:lvl1pPr>
              <a:defRPr sz="14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CD92-9D15-43B4-8516-073FCDAC90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52500" y="1284718"/>
            <a:ext cx="10363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2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33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CD92-9D15-43B4-8516-073FCDAC90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2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mit726/Healthcare-Call-Center-Traffic-Forecasti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1470249"/>
          </a:xfrm>
        </p:spPr>
        <p:txBody>
          <a:bodyPr>
            <a:normAutofit fontScale="90000"/>
          </a:bodyPr>
          <a:lstStyle/>
          <a:p>
            <a:r>
              <a:rPr lang="en-US" dirty="0"/>
              <a:t>Call Volume Forecasting for Healthcare Call Centers</a:t>
            </a:r>
            <a:br>
              <a:rPr lang="en-US" dirty="0"/>
            </a:br>
            <a:r>
              <a:rPr lang="en-US" sz="2200" dirty="0"/>
              <a:t>Healthcare Operations Optimization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043" y="2773885"/>
            <a:ext cx="6676469" cy="31410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Pramit De</a:t>
            </a:r>
          </a:p>
          <a:p>
            <a:r>
              <a:rPr lang="en-US" dirty="0"/>
              <a:t>March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700" dirty="0"/>
              <a:t>GH: </a:t>
            </a:r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https://github.com/Pramit726/Healthcare-Call-Center-Traffic-Forecasting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91512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Contents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6411962-341A-4484-BE7B-326D71A67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048825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348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Business Objective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50" y="1273113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Goal: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To help healthcare call center managers make data-driven staffing and resource allocation decisions by forecasting monthly call volumes using time-series modeling.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Potential Interested Parties: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Call Center Operations Managers:: To optimize agent staffing schedules and reduce burnout by anticipating call surges.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Healthcare Administrators &amp; Service Coordinators: To ensure timely patient support and reduce average wait times through better resource planning.</a:t>
            </a: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2BC26-3E8F-4963-A381-DB126E0A210D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4C2D2A-3532-43B9-AA32-9C156DFEDDF6}"/>
              </a:ext>
            </a:extLst>
          </p:cNvPr>
          <p:cNvSpPr txBox="1">
            <a:spLocks/>
          </p:cNvSpPr>
          <p:nvPr/>
        </p:nvSpPr>
        <p:spPr>
          <a:xfrm>
            <a:off x="6388311" y="1407762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Outcome: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Accurately forecast monthly call volumes to improve workforce </a:t>
            </a:r>
            <a:r>
              <a:rPr lang="en-US" sz="15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planning.Predict</a:t>
            </a: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 smartphone scores using technical specifications.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Enable real-time forecast visualization through an interactive dashboard.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7D03A0-75D3-4F13-95FA-E71B22C1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17" y="4993691"/>
            <a:ext cx="5495365" cy="64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0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I. Project Overview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50" y="1273113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6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Data Source: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Utilized 132 months of historical monthly call volume data from a healthcare call center, processed using Pandas and NumPy for time-series analysis.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Outcome: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Built a robust ARIMA(1,1,4) model (MAE: 2776.07, Directional Accuracy: 63.64%) to forecast monthly call volumes and support staffing optimization.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Performed EDA to identify seasonal patterns (e.g., March and October spikes) and long-term trends affecting call traffic.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Deployed the forecasting solution using </a:t>
            </a:r>
            <a:r>
              <a:rPr lang="en-US" sz="15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FastAPI</a:t>
            </a: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Streamlit</a:t>
            </a: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, and Docker, and hosted it on Render.com with automated CI/CD via GitHub Actions.</a:t>
            </a:r>
            <a:endParaRPr lang="en-US" sz="16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2BC26-3E8F-4963-A381-DB126E0A210D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4C2D2A-3532-43B9-AA32-9C156DFEDDF6}"/>
              </a:ext>
            </a:extLst>
          </p:cNvPr>
          <p:cNvSpPr txBox="1">
            <a:spLocks/>
          </p:cNvSpPr>
          <p:nvPr/>
        </p:nvSpPr>
        <p:spPr>
          <a:xfrm>
            <a:off x="6361417" y="1380868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4F52E-18FC-4B41-86CE-89655D305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433" y="1714559"/>
            <a:ext cx="2677226" cy="49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II. Data Overview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49" y="1284719"/>
            <a:ext cx="5086527" cy="5375388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Origin</a:t>
            </a:r>
            <a:r>
              <a:rPr lang="en-US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: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Data was sourced from a healthcare call center’s historical monthly call logs, covering over 11 years (132 months.</a:t>
            </a: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B18BF7-4F1A-419B-A40D-9EFC240A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847948"/>
              </p:ext>
            </p:extLst>
          </p:nvPr>
        </p:nvGraphicFramePr>
        <p:xfrm>
          <a:off x="8904072" y="1685699"/>
          <a:ext cx="2147597" cy="2632553"/>
        </p:xfrm>
        <a:graphic>
          <a:graphicData uri="http://schemas.openxmlformats.org/drawingml/2006/table">
            <a:tbl>
              <a:tblPr/>
              <a:tblGrid>
                <a:gridCol w="2147597">
                  <a:extLst>
                    <a:ext uri="{9D8B030D-6E8A-4147-A177-3AD203B41FA5}">
                      <a16:colId xmlns:a16="http://schemas.microsoft.com/office/drawing/2014/main" val="599405615"/>
                    </a:ext>
                  </a:extLst>
                </a:gridCol>
              </a:tblGrid>
              <a:tr h="94462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Healthcare Calls Table</a:t>
                      </a:r>
                      <a:endParaRPr lang="en-US" sz="14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Segoe UI Semilight" panose="020B0402040204020203" pitchFamily="34" charset="0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Segoe UI Semilight" panose="020B0402040204020203" pitchFamily="34" charset="0"/>
                        </a:rPr>
                        <a:t>Volume: 132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Segoe UI Semilight" panose="020B0402040204020203" pitchFamily="34" charset="0"/>
                        </a:rPr>
                        <a:t>Columns: ~1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97688"/>
                  </a:ext>
                </a:extLst>
              </a:tr>
              <a:tr h="1332073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Number of calls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3179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042DA7-1D02-458B-9AAE-6D8E2367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" y="3794114"/>
            <a:ext cx="7209585" cy="247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9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III. Data Acquisition &amp; Processing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98C3B511-2D9B-4167-A3CC-4EE247E4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19" y="1594532"/>
            <a:ext cx="5316441" cy="4863548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Data Acquisition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Collected historical monthly call volume data from a healthcare call center spanning 11 years (132 months)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1400" b="1" dirty="0">
              <a:solidFill>
                <a:schemeClr val="bg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Data Cleaning &amp; Structuring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Converted date column to datetime format and set it as the index for time-series operations.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Checked and enforced uniform monthly frequency.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387914" y="1594532"/>
            <a:ext cx="5316441" cy="4863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Process Used: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600" b="1" dirty="0">
              <a:solidFill>
                <a:schemeClr val="bg1"/>
              </a:solidFill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Loaded historical call volume data into a Pandas </a:t>
            </a:r>
            <a:r>
              <a:rPr lang="en-US" sz="1400" dirty="0" err="1">
                <a:solidFill>
                  <a:schemeClr val="bg1"/>
                </a:solidFill>
              </a:rPr>
              <a:t>DataFrame</a:t>
            </a:r>
            <a:r>
              <a:rPr lang="en-US" sz="1400" dirty="0">
                <a:solidFill>
                  <a:schemeClr val="bg1"/>
                </a:solidFill>
              </a:rPr>
              <a:t> for structured analysis.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Performed type conversions - set the date column as the index for time-series compatibility.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Conducted exploratory analysis to uncover trends, seasonality, and patterns in monthly call volumes.</a:t>
            </a:r>
          </a:p>
          <a:p>
            <a:pPr lvl="2" algn="just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  <a:p>
            <a:pPr marL="457200" lvl="1" indent="0" algn="just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3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IV. Exploratory Analysis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98C3B511-2D9B-4167-A3CC-4EE247E4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19" y="1594532"/>
            <a:ext cx="5320379" cy="4863548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Trend Detection: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Clear upward trend in call volume over time, indicating increased demand for healthcare support.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Seasonality Identification: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Recurring peaks observed in March and October, likely tied to healthcare cycles (e.g., seasonal illness patterns).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Stationarity Validation: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Applied first-order differencing to stabilize the mean over time.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Confirmed stationarity through ACF and PACF plots, enabling reliable model fitting.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292325" y="1876798"/>
            <a:ext cx="0" cy="23349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E0FC9D2-AE8B-4F16-8488-0D1D50547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324" y="1976853"/>
            <a:ext cx="5544627" cy="2077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1C77C-20CD-41BD-8F3C-6AA2A4B18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592" y="4388490"/>
            <a:ext cx="6472517" cy="24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V. Model Selection + Performance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5375916" y="1710543"/>
            <a:ext cx="0" cy="49143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552436" y="1376815"/>
            <a:ext cx="4760375" cy="5247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We first evaluated multiple time-series models to establish performance benchmarks:</a:t>
            </a:r>
            <a:endParaRPr lang="en-US" sz="1400" dirty="0">
              <a:solidFill>
                <a:schemeClr val="bg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Best Baseline Model: MA(1) (ARIMA(0,1,1)) achieved the lowest Mean Absolute Error (MAE) of 2069.47 and a Directional Accuracy (DA) of 0.5455.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Other Models Considered: AR(1) and ARMA(1,1) showed higher MAE and did not improve DA significantly.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Advanced Model Selection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Final Model: ARIMA(1,1,4) was selected due to its optimal accuracy and computational efficiency.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Why ARIMA(1,1,4)?Lower AIC/BIC values indicating a better model fit.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Better MAE and DA scores compared to the baseline models.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Fine-Tuning Strategy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Moving Average (q): Explored values around q=4.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Differencing Order (d): Fixed at d=1 to ensure stationarity.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Auto-Regressive Order (p): Evaluated values of p from 1 to 5, with p=1 performing best.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Final Model Results: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ARIMA(1,1,4) achieved: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Directional Accuracy (DA): 0.6364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Mean Absolute Error (MAE): 2776.07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535C6A-F854-462C-A3FE-4A6570812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348128"/>
              </p:ext>
            </p:extLst>
          </p:nvPr>
        </p:nvGraphicFramePr>
        <p:xfrm>
          <a:off x="6354543" y="1650264"/>
          <a:ext cx="4773170" cy="2171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602">
                  <a:extLst>
                    <a:ext uri="{9D8B030D-6E8A-4147-A177-3AD203B41FA5}">
                      <a16:colId xmlns:a16="http://schemas.microsoft.com/office/drawing/2014/main" val="333144519"/>
                    </a:ext>
                  </a:extLst>
                </a:gridCol>
                <a:gridCol w="953392">
                  <a:extLst>
                    <a:ext uri="{9D8B030D-6E8A-4147-A177-3AD203B41FA5}">
                      <a16:colId xmlns:a16="http://schemas.microsoft.com/office/drawing/2014/main" val="24145671"/>
                    </a:ext>
                  </a:extLst>
                </a:gridCol>
                <a:gridCol w="953392">
                  <a:extLst>
                    <a:ext uri="{9D8B030D-6E8A-4147-A177-3AD203B41FA5}">
                      <a16:colId xmlns:a16="http://schemas.microsoft.com/office/drawing/2014/main" val="2682712432"/>
                    </a:ext>
                  </a:extLst>
                </a:gridCol>
                <a:gridCol w="953392">
                  <a:extLst>
                    <a:ext uri="{9D8B030D-6E8A-4147-A177-3AD203B41FA5}">
                      <a16:colId xmlns:a16="http://schemas.microsoft.com/office/drawing/2014/main" val="1465313475"/>
                    </a:ext>
                  </a:extLst>
                </a:gridCol>
                <a:gridCol w="953392">
                  <a:extLst>
                    <a:ext uri="{9D8B030D-6E8A-4147-A177-3AD203B41FA5}">
                      <a16:colId xmlns:a16="http://schemas.microsoft.com/office/drawing/2014/main" val="2026837111"/>
                    </a:ext>
                  </a:extLst>
                </a:gridCol>
              </a:tblGrid>
              <a:tr h="436286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  <a:p>
                      <a:pPr algn="ctr"/>
                      <a:r>
                        <a:rPr lang="en-US" sz="900" dirty="0"/>
                        <a:t>Model</a:t>
                      </a:r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MAE (Test)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DA (Test)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AIC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BIC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25634"/>
                  </a:ext>
                </a:extLst>
              </a:tr>
              <a:tr h="517131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MA(1)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2069.47</a:t>
                      </a:r>
                      <a:endParaRPr lang="en-IN" sz="9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0.5455</a:t>
                      </a:r>
                      <a:endParaRPr lang="en-IN" sz="9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1936.55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/>
                        <a:t>1944.91</a:t>
                      </a:r>
                      <a:endParaRPr lang="en-US" sz="9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199024343"/>
                  </a:ext>
                </a:extLst>
              </a:tr>
              <a:tr h="5757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AR(1)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2861.39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0.4545</a:t>
                      </a:r>
                      <a:endParaRPr lang="en-US" sz="900" b="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1947.64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1956.00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26031768"/>
                  </a:ext>
                </a:extLst>
              </a:tr>
              <a:tr h="5757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Combined ARMA(1,1)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/>
                        <a:t>3381.94</a:t>
                      </a:r>
                      <a:endParaRPr lang="en-US" sz="900" b="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>
                          <a:effectLst/>
                        </a:rPr>
                        <a:t>0.5455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	1953.54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	1964.69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12634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77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VI. Take-Aways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15189" y="1457497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Biggest takeaways from the project :</a:t>
            </a:r>
          </a:p>
          <a:p>
            <a:pPr marL="0" indent="0" algn="just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Call Volume Trends: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A significant upward trend in call volumes over time was observed, indicating increasing demand for healthcare services.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Key Insight: Call volumes are steadily increasing, which emphasizes the need for scalable and flexible staffing solutions to handle future surges.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Stationarity and Model Selection: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The first-order differencing made the data stationary, enabling the use of time-series models.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Key Insight: Proper preprocessing (such as differencing) is essential for accurate model predictions. The ARIMA(1,1,4) model, chosen for its accuracy, highlights the importance of fine-tuning model parameters to capture trends effectively.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571A3AC-5F4F-4819-B0C9-5AB1901E18A7}"/>
              </a:ext>
            </a:extLst>
          </p:cNvPr>
          <p:cNvSpPr txBox="1">
            <a:spLocks/>
          </p:cNvSpPr>
          <p:nvPr/>
        </p:nvSpPr>
        <p:spPr>
          <a:xfrm>
            <a:off x="6479276" y="1457497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Given the results of the models and tests, my project based recommendations are: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Proactively Adjust Staffing for Trend &amp; Seasonality: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Forecasting trends and seasonal fluctuations in call volumes should drive staffing decisions. Proactively increase staffing during peak months (e.g., March, October) to reduce wait times and improve service quality.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Optimize Workforce Scheduling: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Use the ARIMA model to predict call volumes and create flexible staffing schedules that minimize burnout while ensuring adequate coverage during forecasted high-volume periods.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Enhance Real-Time Decision-Making: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Use the real-time forecast visualizations via </a:t>
            </a:r>
            <a:r>
              <a:rPr lang="en-US" sz="1400" dirty="0" err="1">
                <a:solidFill>
                  <a:schemeClr val="bg1"/>
                </a:solidFill>
              </a:rPr>
              <a:t>Streamlit</a:t>
            </a:r>
            <a:r>
              <a:rPr lang="en-US" sz="1400" dirty="0">
                <a:solidFill>
                  <a:schemeClr val="bg1"/>
                </a:solidFill>
              </a:rPr>
              <a:t> for dynamic staffing adjustments based on the most recent data, helping managers respond to unexpected spikes or drops in call volumes.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13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5070893"/>
          </a:xfrm>
        </p:spPr>
        <p:txBody>
          <a:bodyPr>
            <a:normAutofit/>
          </a:bodyPr>
          <a:lstStyle/>
          <a:p>
            <a:r>
              <a:rPr lang="en-US" dirty="0"/>
              <a:t>Thanks!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243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QuickStarter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939</Words>
  <Application>Microsoft Office PowerPoint</Application>
  <PresentationFormat>Widescreen</PresentationFormat>
  <Paragraphs>130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Roboto</vt:lpstr>
      <vt:lpstr>Segoe UI</vt:lpstr>
      <vt:lpstr>Segoe UI Light</vt:lpstr>
      <vt:lpstr>Segoe UI Semilight</vt:lpstr>
      <vt:lpstr>Tw Cen MT</vt:lpstr>
      <vt:lpstr>Tw Cen MT Condensed</vt:lpstr>
      <vt:lpstr>Wingdings</vt:lpstr>
      <vt:lpstr>Wingdings 3</vt:lpstr>
      <vt:lpstr>Integral</vt:lpstr>
      <vt:lpstr>QuickStarter Theme</vt:lpstr>
      <vt:lpstr>Call Volume Forecasting for Healthcare Call Centers Healthcare Operations Optimization</vt:lpstr>
      <vt:lpstr>Contents</vt:lpstr>
      <vt:lpstr>Business Objective</vt:lpstr>
      <vt:lpstr>I. Project Overview</vt:lpstr>
      <vt:lpstr>II. Data Overview</vt:lpstr>
      <vt:lpstr>III. Data Acquisition &amp; Processing</vt:lpstr>
      <vt:lpstr>IV. Exploratory Analysis</vt:lpstr>
      <vt:lpstr>V. Model Selection + Performance</vt:lpstr>
      <vt:lpstr>VI. Take-Aways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sales success from INTRO callS</dc:title>
  <dc:creator>Mikiko Bazeley</dc:creator>
  <cp:lastModifiedBy>Pramit De</cp:lastModifiedBy>
  <cp:revision>123</cp:revision>
  <dcterms:created xsi:type="dcterms:W3CDTF">2019-02-26T18:38:55Z</dcterms:created>
  <dcterms:modified xsi:type="dcterms:W3CDTF">2025-04-15T14:08:00Z</dcterms:modified>
</cp:coreProperties>
</file>